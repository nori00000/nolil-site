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farm where questions and projects continue beyond a single visit.</a:t>
            </a:r>
          </a:p>
          <a:p>
            <a:r>
              <a:t>Record a change and compare it on your next visit.</a:t>
            </a:r>
          </a:p>
          <a:p>
            <a:r>
              <a:t>Repair a tool and leave instructions for the next person.</a:t>
            </a:r>
          </a:p>
          <a:p>
            <a:r>
              <a:t>Explore technology and art on their own terms.</a:t>
            </a:r>
          </a:p>
          <a:p>
            <a:r>
              <a:t>2026-10-10 · v08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Weather, materials, signs of use and human perception raise new questions each time.</a:t>
            </a:r>
          </a:p>
          <a:p>
            <a:r>
              <a:t>Place — return to the same spot and notice what changes</a:t>
            </a:r>
          </a:p>
          <a:p>
            <a:r>
              <a:t>Continuity — pair repair with useful documentation</a:t>
            </a:r>
          </a:p>
          <a:p>
            <a:r>
              <a:t>Expression — value artistic inquiry in its own right</a:t>
            </a:r>
          </a:p>
          <a:p>
            <a:r>
              <a:t>2026-10-10 · v08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Put photographs and impressions alongside readings of light, temperature and soil.</a:t>
            </a:r>
          </a:p>
          <a:p>
            <a:r>
              <a:t>Source principle: TechRice links places, devices, sensors and readings</a:t>
            </a:r>
          </a:p>
          <a:p>
            <a:r>
              <a:t>Adaptation: add timestamps, units, missing data and human observations</a:t>
            </a:r>
          </a:p>
          <a:p>
            <a:r>
              <a:t>Your starting point: three sentences about light and colour in one place</a:t>
            </a:r>
          </a:p>
          <a:p>
            <a:r>
              <a:t>2026-10-10 · v08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where a tool is, its condition and how it can be used again.</a:t>
            </a:r>
          </a:p>
          <a:p>
            <a:r>
              <a:t>Source principle: QR Inventory connects an item ID with its status</a:t>
            </a:r>
          </a:p>
          <a:p>
            <a:r>
              <a:t>Adaptation: add photos, checks, repair history and short instructions</a:t>
            </a:r>
          </a:p>
          <a:p>
            <a:r>
              <a:t>Your starting point: a name, location and condition card for one object</a:t>
            </a:r>
          </a:p>
          <a:p>
            <a:r>
              <a:t>2026-10-10 · v08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Explore structure, material and energy to give your question a physical form.</a:t>
            </a:r>
          </a:p>
          <a:p>
            <a:r>
              <a:t>Source idea: Solar Paper Lantern brings light, paper and energy together</a:t>
            </a:r>
          </a:p>
          <a:p>
            <a:r>
              <a:t>Adaptation: begin with paper models, then assess current components and safety</a:t>
            </a:r>
          </a:p>
          <a:p>
            <a:r>
              <a:t>Your starting point: sketch a paper structure and mark a path for light</a:t>
            </a:r>
          </a:p>
          <a:p>
            <a:r>
              <a:t>2026-10-10 · v08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Choose an interest, try a small action and leave yourself a next question.</a:t>
            </a:r>
          </a:p>
          <a:p>
            <a:r>
              <a:t>01 Discover — choose a question about observation, tools or light</a:t>
            </a:r>
          </a:p>
          <a:p>
            <a:r>
              <a:t>02 Prepare — start on your own with a photo, note or sketch</a:t>
            </a:r>
          </a:p>
          <a:p>
            <a:r>
              <a:t>03 Work together — join a small team in the planned first season</a:t>
            </a:r>
          </a:p>
          <a:p>
            <a:r>
              <a:t>04 Continue — use what you record to begin the next experiment</a:t>
            </a:r>
          </a:p>
          <a:p>
            <a:r>
              <a:t>2026-10-10 · v08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three-hour sessions, every other week. Designed around three teams of four.</a:t>
            </a:r>
          </a:p>
          <a:p>
            <a:r>
              <a:t>Sessions 1–2 · explore the setting and choose questions and roles</a:t>
            </a:r>
          </a:p>
          <a:p>
            <a:r>
              <a:t>Sessions 3–4 · build small prototypes, compare records and revise</a:t>
            </a:r>
          </a:p>
          <a:p>
            <a:r>
              <a:t>Sessions 5–6 · test again and document the next steps</a:t>
            </a:r>
          </a:p>
          <a:p>
            <a:r>
              <a:t>2026-10-10 · v08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First-season capacity: 12 people · KRW 360,000 per person for 12 weeks</a:t>
            </a:r>
          </a:p>
          <a:p>
            <a:r>
              <a:t>Planned inclusions: six sessions, basic shared tools and consumables, documentation guidance</a:t>
            </a:r>
          </a:p>
          <a:p>
            <a:r>
              <a:t>Outside the plan: personal equipment, specialist materials, meals and transport</a:t>
            </a:r>
          </a:p>
          <a:p>
            <a:r>
              <a:t>Membership covers scheduled sessions, not unrestricted access to the premises.</a:t>
            </a:r>
          </a:p>
          <a:p>
            <a:r>
              <a:t>Start dates, facilitators, detailed support and refund terms will be published before enrolment.</a:t>
            </a:r>
          </a:p>
          <a:p>
            <a:r>
              <a:t>2026-10-10 · v08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Membership fees support preparation and the running of shared activities.</a:t>
            </a:r>
          </a:p>
          <a:p>
            <a:r>
              <a:t>Our operating model does not rely on property rental revenue.</a:t>
            </a:r>
          </a:p>
          <a:p>
            <a:r>
              <a:t>Different contributions through technology, art and observation are valued.</a:t>
            </a:r>
          </a:p>
          <a:p>
            <a:r>
              <a:t>You choose whether to share your work, photos and records.</a:t>
            </a:r>
          </a:p>
          <a:p>
            <a:r>
              <a:t>We distinguish sources from adaptations, and plans from actual results.</a:t>
            </a:r>
          </a:p>
          <a:p>
            <a:r>
              <a:t>2026-10-10 · v08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Enrolment is being prepared. Read the material and choose a personal starting point.</a:t>
            </a:r>
          </a:p>
          <a:p>
            <a:r>
              <a:t>Explore the three projects and the preparation suggested for each role.</a:t>
            </a:r>
          </a:p>
          <a:p>
            <a:r>
              <a:t>Write your question and save a personal note.</a:t>
            </a:r>
          </a:p>
          <a:p>
            <a:r>
              <a:t>Twelve is the planned capacity. No members have been recruited yet.</a:t>
            </a:r>
          </a:p>
          <a:p>
            <a:r>
              <a:t>Reading this material or saving a note does not submit an application or booking.</a:t>
            </a:r>
          </a:p>
          <a:p>
            <a:r>
              <a:t>2026-10-10 · v08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FarmLab: https://hackerfarm.jp/projects/farmlab/</a:t>
            </a:r>
          </a:p>
          <a:p>
            <a:r>
              <a:t>TechRice: https://github.com/Hackerfarm/techrice</a:t>
            </a:r>
          </a:p>
          <a:p>
            <a:r>
              <a:t>Python workshops: https://github.com/Hackerfarm/python-workshops</a:t>
            </a:r>
          </a:p>
          <a:p>
            <a:r>
              <a:t>QR Inventory: https://github.com/Hackerfarm/qrinventory</a:t>
            </a:r>
          </a:p>
          <a:p>
            <a:r>
              <a:t>Solar Paper Lantern: https://github.com/Hackerfarm/solar-paper-lantern</a:t>
            </a:r>
          </a:p>
          <a:p>
            <a:r>
              <a:t>First-season capacity: 12 people · KRW 360,000 per person for 12 weeks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317500"/>
            <a:ext cx="11125200" cy="3540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8"/>
              </a:lnSpc>
              <a:spcAft>
                <a:spcPts val="0"/>
              </a:spcAft>
              <a:defRPr sz="14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HACKER FARM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596900"/>
            <a:ext cx="11125200" cy="2188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23"/>
              </a:lnSpc>
              <a:spcAft>
                <a:spcPts val="0"/>
              </a:spcAft>
              <a:defRPr sz="6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S T U D I O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6324600"/>
            <a:ext cx="11125200" cy="10160"/>
          </a:xfrm>
          <a:prstGeom prst="rect">
            <a:avLst/>
          </a:prstGeom>
          <a:solidFill>
            <a:srgbClr val="CBC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426200"/>
            <a:ext cx="10287000" cy="2458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36"/>
              </a:lnSpc>
              <a:spcAft>
                <a:spcPts val="0"/>
              </a:spcAft>
              <a:defRPr sz="800" b="0">
                <a:solidFill>
                  <a:srgbClr val="61645B"/>
                </a:solidFill>
                <a:latin typeface="Noto Sans KR"/>
              </a:defRPr>
            </a:pPr>
            <a:r>
              <a:rPr>
                <a:ea typeface="Noto Sans KR"/>
              </a:rPr>
              <a:t>2026-10-10 · v08 / Introduction &amp; presentation · operating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9000" y="6426200"/>
            <a:ext cx="635000" cy="2639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78"/>
              </a:lnSpc>
              <a:spcAft>
                <a:spcPts val="0"/>
              </a:spcAft>
              <a:defRPr sz="9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8800" y="1079500"/>
            <a:ext cx="10795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INTRODUCTION</a:t>
            </a:r>
          </a:p>
        </p:txBody>
      </p:sp>
      <p:pic>
        <p:nvPicPr>
          <p:cNvPr id="9" name="Picture 8" descr="farm-m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500" y="1143000"/>
            <a:ext cx="3619500" cy="4826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3400" y="1816100"/>
            <a:ext cx="7112000" cy="1760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6531"/>
              </a:lnSpc>
              <a:spcAft>
                <a:spcPts val="0"/>
              </a:spcAft>
              <a:defRPr sz="46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Ask the land.</a:t>
            </a:r>
          </a:p>
          <a:p>
            <a:pPr>
              <a:lnSpc>
                <a:spcPts val="6531"/>
              </a:lnSpc>
              <a:spcAft>
                <a:spcPts val="0"/>
              </a:spcAft>
              <a:defRPr sz="46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Make with your hands.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800" y="4368800"/>
            <a:ext cx="6477000" cy="7868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97"/>
              </a:lnSpc>
              <a:spcAft>
                <a:spcPts val="0"/>
              </a:spcAft>
              <a:defRPr sz="190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Observe, repair and create at a shared farm in Goyang,</a:t>
            </a:r>
          </a:p>
          <a:p>
            <a:pPr>
              <a:lnSpc>
                <a:spcPts val="2697"/>
              </a:lnSpc>
              <a:spcAft>
                <a:spcPts val="0"/>
              </a:spcAft>
              <a:defRPr sz="190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South Korea.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8800" y="5638800"/>
            <a:ext cx="6985000" cy="318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4"/>
              </a:lnSpc>
              <a:spcAft>
                <a:spcPts val="0"/>
              </a:spcAft>
              <a:defRPr sz="120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playworkgrow.club/en/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317500"/>
            <a:ext cx="11125200" cy="3540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8"/>
              </a:lnSpc>
              <a:spcAft>
                <a:spcPts val="0"/>
              </a:spcAft>
              <a:defRPr sz="14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HACKER FARM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596900"/>
            <a:ext cx="11125200" cy="2188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23"/>
              </a:lnSpc>
              <a:spcAft>
                <a:spcPts val="0"/>
              </a:spcAft>
              <a:defRPr sz="6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S T U D I O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6324600"/>
            <a:ext cx="11125200" cy="10160"/>
          </a:xfrm>
          <a:prstGeom prst="rect">
            <a:avLst/>
          </a:prstGeom>
          <a:solidFill>
            <a:srgbClr val="CBC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426200"/>
            <a:ext cx="10287000" cy="2458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36"/>
              </a:lnSpc>
              <a:spcAft>
                <a:spcPts val="0"/>
              </a:spcAft>
              <a:defRPr sz="800" b="0">
                <a:solidFill>
                  <a:srgbClr val="61645B"/>
                </a:solidFill>
                <a:latin typeface="Noto Sans KR"/>
              </a:defRPr>
            </a:pPr>
            <a:r>
              <a:rPr>
                <a:ea typeface="Noto Sans KR"/>
              </a:rPr>
              <a:t>2026-10-10 · v08 / Introduction &amp; presentation · operating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9000" y="6426200"/>
            <a:ext cx="635000" cy="2639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78"/>
              </a:lnSpc>
              <a:spcAft>
                <a:spcPts val="0"/>
              </a:spcAft>
              <a:defRPr sz="9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8800" y="1079500"/>
            <a:ext cx="10795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THE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1422400"/>
            <a:ext cx="11049000" cy="1327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828"/>
              </a:lnSpc>
              <a:spcAft>
                <a:spcPts val="0"/>
              </a:spcAft>
              <a:defRPr sz="34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From a solo pastime</a:t>
            </a:r>
          </a:p>
          <a:p>
            <a:pPr>
              <a:lnSpc>
                <a:spcPts val="4828"/>
              </a:lnSpc>
              <a:spcAft>
                <a:spcPts val="0"/>
              </a:spcAft>
              <a:defRPr sz="34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to a shared inquiry.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800" y="2971800"/>
            <a:ext cx="11049000" cy="4081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14"/>
              </a:lnSpc>
              <a:spcAft>
                <a:spcPts val="0"/>
              </a:spcAft>
              <a:defRPr sz="170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A farm where questions and projects continue beyond a single visit.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800" y="4102100"/>
            <a:ext cx="381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400" y="4076700"/>
            <a:ext cx="10515600" cy="3630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59"/>
              </a:lnSpc>
              <a:spcAft>
                <a:spcPts val="0"/>
              </a:spcAft>
              <a:defRPr sz="14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Record a change and compare it on your next visit.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800" y="4584700"/>
            <a:ext cx="381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1400" y="4559300"/>
            <a:ext cx="10515600" cy="3630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59"/>
              </a:lnSpc>
              <a:spcAft>
                <a:spcPts val="0"/>
              </a:spcAft>
              <a:defRPr sz="14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Repair a tool and leave instructions for the next person.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8800" y="5067300"/>
            <a:ext cx="381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1400" y="5041900"/>
            <a:ext cx="10515600" cy="3630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59"/>
              </a:lnSpc>
              <a:spcAft>
                <a:spcPts val="0"/>
              </a:spcAft>
              <a:defRPr sz="14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Explore technology and art on their own terms.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317500"/>
            <a:ext cx="11125200" cy="3540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8"/>
              </a:lnSpc>
              <a:spcAft>
                <a:spcPts val="0"/>
              </a:spcAft>
              <a:defRPr sz="14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HACKER FARM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596900"/>
            <a:ext cx="11125200" cy="2188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23"/>
              </a:lnSpc>
              <a:spcAft>
                <a:spcPts val="0"/>
              </a:spcAft>
              <a:defRPr sz="6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S T U D I O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6324600"/>
            <a:ext cx="11125200" cy="10160"/>
          </a:xfrm>
          <a:prstGeom prst="rect">
            <a:avLst/>
          </a:prstGeom>
          <a:solidFill>
            <a:srgbClr val="CBC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426200"/>
            <a:ext cx="10287000" cy="2458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36"/>
              </a:lnSpc>
              <a:spcAft>
                <a:spcPts val="0"/>
              </a:spcAft>
              <a:defRPr sz="800" b="0">
                <a:solidFill>
                  <a:srgbClr val="61645B"/>
                </a:solidFill>
                <a:latin typeface="Noto Sans KR"/>
              </a:defRPr>
            </a:pPr>
            <a:r>
              <a:rPr>
                <a:ea typeface="Noto Sans KR"/>
              </a:rPr>
              <a:t>2026-10-10 · v08 / Introduction &amp; presentation · operating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9000" y="6426200"/>
            <a:ext cx="635000" cy="2639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78"/>
              </a:lnSpc>
              <a:spcAft>
                <a:spcPts val="0"/>
              </a:spcAft>
              <a:defRPr sz="9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8800" y="1079500"/>
            <a:ext cx="10795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OUR DIFFERENCE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1422400"/>
            <a:ext cx="11049000" cy="1327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828"/>
              </a:lnSpc>
              <a:spcAft>
                <a:spcPts val="0"/>
              </a:spcAft>
              <a:defRPr sz="34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The farm is where</a:t>
            </a:r>
          </a:p>
          <a:p>
            <a:pPr>
              <a:lnSpc>
                <a:spcPts val="4828"/>
              </a:lnSpc>
              <a:spcAft>
                <a:spcPts val="0"/>
              </a:spcAft>
              <a:defRPr sz="34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the work begins.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800" y="2971800"/>
            <a:ext cx="11049000" cy="4081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14"/>
              </a:lnSpc>
              <a:spcAft>
                <a:spcPts val="0"/>
              </a:spcAft>
              <a:defRPr sz="170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Weather, materials, signs of use and human perception raise new questions each time.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800" y="4102100"/>
            <a:ext cx="381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400" y="4076700"/>
            <a:ext cx="10515600" cy="3630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59"/>
              </a:lnSpc>
              <a:spcAft>
                <a:spcPts val="0"/>
              </a:spcAft>
              <a:defRPr sz="14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Place — return to the same spot and notice what changes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800" y="4584700"/>
            <a:ext cx="381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1400" y="4559300"/>
            <a:ext cx="10515600" cy="3630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59"/>
              </a:lnSpc>
              <a:spcAft>
                <a:spcPts val="0"/>
              </a:spcAft>
              <a:defRPr sz="14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Continuity — pair repair with useful documentation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8800" y="5067300"/>
            <a:ext cx="381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1400" y="5041900"/>
            <a:ext cx="10515600" cy="3630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59"/>
              </a:lnSpc>
              <a:spcAft>
                <a:spcPts val="0"/>
              </a:spcAft>
              <a:defRPr sz="14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Expression — value artistic inquiry in its own right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317500"/>
            <a:ext cx="11125200" cy="3540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8"/>
              </a:lnSpc>
              <a:spcAft>
                <a:spcPts val="0"/>
              </a:spcAft>
              <a:defRPr sz="14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HACKER FARM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596900"/>
            <a:ext cx="11125200" cy="2188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23"/>
              </a:lnSpc>
              <a:spcAft>
                <a:spcPts val="0"/>
              </a:spcAft>
              <a:defRPr sz="6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S T U D I O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6324600"/>
            <a:ext cx="11125200" cy="10160"/>
          </a:xfrm>
          <a:prstGeom prst="rect">
            <a:avLst/>
          </a:prstGeom>
          <a:solidFill>
            <a:srgbClr val="CBC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426200"/>
            <a:ext cx="10287000" cy="2458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36"/>
              </a:lnSpc>
              <a:spcAft>
                <a:spcPts val="0"/>
              </a:spcAft>
              <a:defRPr sz="800" b="0">
                <a:solidFill>
                  <a:srgbClr val="61645B"/>
                </a:solidFill>
                <a:latin typeface="Noto Sans KR"/>
              </a:defRPr>
            </a:pPr>
            <a:r>
              <a:rPr>
                <a:ea typeface="Noto Sans KR"/>
              </a:rPr>
              <a:t>2026-10-10 · v08 / Introduction &amp; presentation · operating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9000" y="6426200"/>
            <a:ext cx="635000" cy="2639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78"/>
              </a:lnSpc>
              <a:spcAft>
                <a:spcPts val="0"/>
              </a:spcAft>
              <a:defRPr sz="9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8800" y="1079500"/>
            <a:ext cx="10795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01 / OBSERVE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1422400"/>
            <a:ext cx="11049000" cy="1327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828"/>
              </a:lnSpc>
              <a:spcAft>
                <a:spcPts val="0"/>
              </a:spcAft>
              <a:defRPr sz="34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Read the farm’s</a:t>
            </a:r>
          </a:p>
          <a:p>
            <a:pPr>
              <a:lnSpc>
                <a:spcPts val="4828"/>
              </a:lnSpc>
              <a:spcAft>
                <a:spcPts val="0"/>
              </a:spcAft>
              <a:defRPr sz="34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less visible changes.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800" y="2971800"/>
            <a:ext cx="11049000" cy="4081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14"/>
              </a:lnSpc>
              <a:spcAft>
                <a:spcPts val="0"/>
              </a:spcAft>
              <a:defRPr sz="170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Put photographs and impressions alongside readings of light, temperature and soil.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800" y="4102100"/>
            <a:ext cx="381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400" y="4076700"/>
            <a:ext cx="10515600" cy="3630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59"/>
              </a:lnSpc>
              <a:spcAft>
                <a:spcPts val="0"/>
              </a:spcAft>
              <a:defRPr sz="14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Source principle: TechRice links places, devices, sensors and readings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800" y="4584700"/>
            <a:ext cx="381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1400" y="4559300"/>
            <a:ext cx="10515600" cy="3630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59"/>
              </a:lnSpc>
              <a:spcAft>
                <a:spcPts val="0"/>
              </a:spcAft>
              <a:defRPr sz="14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Adaptation: add timestamps, units, missing data and human observations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8800" y="5067300"/>
            <a:ext cx="381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1400" y="5041900"/>
            <a:ext cx="10515600" cy="3630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59"/>
              </a:lnSpc>
              <a:spcAft>
                <a:spcPts val="0"/>
              </a:spcAft>
              <a:defRPr sz="14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Your starting point: three sentences about light and colour in one place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317500"/>
            <a:ext cx="11125200" cy="3540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8"/>
              </a:lnSpc>
              <a:spcAft>
                <a:spcPts val="0"/>
              </a:spcAft>
              <a:defRPr sz="14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HACKER FARM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596900"/>
            <a:ext cx="11125200" cy="2188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23"/>
              </a:lnSpc>
              <a:spcAft>
                <a:spcPts val="0"/>
              </a:spcAft>
              <a:defRPr sz="6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S T U D I O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6324600"/>
            <a:ext cx="11125200" cy="10160"/>
          </a:xfrm>
          <a:prstGeom prst="rect">
            <a:avLst/>
          </a:prstGeom>
          <a:solidFill>
            <a:srgbClr val="CBC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426200"/>
            <a:ext cx="10287000" cy="2458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36"/>
              </a:lnSpc>
              <a:spcAft>
                <a:spcPts val="0"/>
              </a:spcAft>
              <a:defRPr sz="800" b="0">
                <a:solidFill>
                  <a:srgbClr val="61645B"/>
                </a:solidFill>
                <a:latin typeface="Noto Sans KR"/>
              </a:defRPr>
            </a:pPr>
            <a:r>
              <a:rPr>
                <a:ea typeface="Noto Sans KR"/>
              </a:rPr>
              <a:t>2026-10-10 · v08 / Introduction &amp; presentation · operating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9000" y="6426200"/>
            <a:ext cx="635000" cy="2639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78"/>
              </a:lnSpc>
              <a:spcAft>
                <a:spcPts val="0"/>
              </a:spcAft>
              <a:defRPr sz="9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8800" y="1079500"/>
            <a:ext cx="10795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02 / REPAIR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1422400"/>
            <a:ext cx="11049000" cy="1327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828"/>
              </a:lnSpc>
              <a:spcAft>
                <a:spcPts val="0"/>
              </a:spcAft>
              <a:defRPr sz="34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Think of the next</a:t>
            </a:r>
          </a:p>
          <a:p>
            <a:pPr>
              <a:lnSpc>
                <a:spcPts val="4828"/>
              </a:lnSpc>
              <a:spcAft>
                <a:spcPts val="0"/>
              </a:spcAft>
              <a:defRPr sz="34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person using a tool.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800" y="2971800"/>
            <a:ext cx="11049000" cy="4081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14"/>
              </a:lnSpc>
              <a:spcAft>
                <a:spcPts val="0"/>
              </a:spcAft>
              <a:defRPr sz="170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Explain where a tool is, its condition and how it can be used again.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800" y="4102100"/>
            <a:ext cx="381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400" y="4076700"/>
            <a:ext cx="10515600" cy="3630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59"/>
              </a:lnSpc>
              <a:spcAft>
                <a:spcPts val="0"/>
              </a:spcAft>
              <a:defRPr sz="14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Source principle: QR Inventory connects an item ID with its 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800" y="4584700"/>
            <a:ext cx="381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1400" y="4559300"/>
            <a:ext cx="10515600" cy="3630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59"/>
              </a:lnSpc>
              <a:spcAft>
                <a:spcPts val="0"/>
              </a:spcAft>
              <a:defRPr sz="14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Adaptation: add photos, checks, repair history and short instructions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8800" y="5067300"/>
            <a:ext cx="381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1400" y="5041900"/>
            <a:ext cx="10515600" cy="3630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59"/>
              </a:lnSpc>
              <a:spcAft>
                <a:spcPts val="0"/>
              </a:spcAft>
              <a:defRPr sz="14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Your starting point: a name, location and condition card for one object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317500"/>
            <a:ext cx="11125200" cy="3540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8"/>
              </a:lnSpc>
              <a:spcAft>
                <a:spcPts val="0"/>
              </a:spcAft>
              <a:defRPr sz="14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HACKER FARM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596900"/>
            <a:ext cx="11125200" cy="2188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23"/>
              </a:lnSpc>
              <a:spcAft>
                <a:spcPts val="0"/>
              </a:spcAft>
              <a:defRPr sz="6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S T U D I O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6324600"/>
            <a:ext cx="11125200" cy="10160"/>
          </a:xfrm>
          <a:prstGeom prst="rect">
            <a:avLst/>
          </a:prstGeom>
          <a:solidFill>
            <a:srgbClr val="CBC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426200"/>
            <a:ext cx="10287000" cy="2458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36"/>
              </a:lnSpc>
              <a:spcAft>
                <a:spcPts val="0"/>
              </a:spcAft>
              <a:defRPr sz="800" b="0">
                <a:solidFill>
                  <a:srgbClr val="61645B"/>
                </a:solidFill>
                <a:latin typeface="Noto Sans KR"/>
              </a:defRPr>
            </a:pPr>
            <a:r>
              <a:rPr>
                <a:ea typeface="Noto Sans KR"/>
              </a:rPr>
              <a:t>2026-10-10 · v08 / Introduction &amp; presentation · operating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9000" y="6426200"/>
            <a:ext cx="635000" cy="2639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78"/>
              </a:lnSpc>
              <a:spcAft>
                <a:spcPts val="0"/>
              </a:spcAft>
              <a:defRPr sz="9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8800" y="1079500"/>
            <a:ext cx="10795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03 / CREATE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1422400"/>
            <a:ext cx="11049000" cy="1327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828"/>
              </a:lnSpc>
              <a:spcAft>
                <a:spcPts val="0"/>
              </a:spcAft>
              <a:defRPr sz="34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Express light through</a:t>
            </a:r>
          </a:p>
          <a:p>
            <a:pPr>
              <a:lnSpc>
                <a:spcPts val="4828"/>
              </a:lnSpc>
              <a:spcAft>
                <a:spcPts val="0"/>
              </a:spcAft>
              <a:defRPr sz="34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the folds of paper.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800" y="2971800"/>
            <a:ext cx="11049000" cy="4081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14"/>
              </a:lnSpc>
              <a:spcAft>
                <a:spcPts val="0"/>
              </a:spcAft>
              <a:defRPr sz="170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Explore structure, material and energy to give your question a physical form.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800" y="4102100"/>
            <a:ext cx="381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400" y="4076700"/>
            <a:ext cx="10515600" cy="3630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59"/>
              </a:lnSpc>
              <a:spcAft>
                <a:spcPts val="0"/>
              </a:spcAft>
              <a:defRPr sz="14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Source idea: Solar Paper Lantern brings light, paper and energy together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800" y="4584700"/>
            <a:ext cx="381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1400" y="4559300"/>
            <a:ext cx="10515600" cy="3630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59"/>
              </a:lnSpc>
              <a:spcAft>
                <a:spcPts val="0"/>
              </a:spcAft>
              <a:defRPr sz="14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Adaptation: begin with paper models, then assess current components and safety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8800" y="5067300"/>
            <a:ext cx="381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1400" y="5041900"/>
            <a:ext cx="10515600" cy="3630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59"/>
              </a:lnSpc>
              <a:spcAft>
                <a:spcPts val="0"/>
              </a:spcAft>
              <a:defRPr sz="14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Your starting point: sketch a paper structure and mark a path for light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317500"/>
            <a:ext cx="11125200" cy="3540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8"/>
              </a:lnSpc>
              <a:spcAft>
                <a:spcPts val="0"/>
              </a:spcAft>
              <a:defRPr sz="14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HACKER FARM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596900"/>
            <a:ext cx="11125200" cy="2188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23"/>
              </a:lnSpc>
              <a:spcAft>
                <a:spcPts val="0"/>
              </a:spcAft>
              <a:defRPr sz="6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S T U D I O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6324600"/>
            <a:ext cx="11125200" cy="10160"/>
          </a:xfrm>
          <a:prstGeom prst="rect">
            <a:avLst/>
          </a:prstGeom>
          <a:solidFill>
            <a:srgbClr val="CBC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426200"/>
            <a:ext cx="10287000" cy="2458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36"/>
              </a:lnSpc>
              <a:spcAft>
                <a:spcPts val="0"/>
              </a:spcAft>
              <a:defRPr sz="800" b="0">
                <a:solidFill>
                  <a:srgbClr val="61645B"/>
                </a:solidFill>
                <a:latin typeface="Noto Sans KR"/>
              </a:defRPr>
            </a:pPr>
            <a:r>
              <a:rPr>
                <a:ea typeface="Noto Sans KR"/>
              </a:rPr>
              <a:t>2026-10-10 · v08 / Introduction &amp; presentation · operating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9000" y="6426200"/>
            <a:ext cx="635000" cy="2639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78"/>
              </a:lnSpc>
              <a:spcAft>
                <a:spcPts val="0"/>
              </a:spcAft>
              <a:defRPr sz="9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8800" y="1079500"/>
            <a:ext cx="10795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YOUR JOURNEY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1422400"/>
            <a:ext cx="11049000" cy="1327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828"/>
              </a:lnSpc>
              <a:spcAft>
                <a:spcPts val="0"/>
              </a:spcAft>
              <a:defRPr sz="34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Begin with curiosity,</a:t>
            </a:r>
          </a:p>
          <a:p>
            <a:pPr>
              <a:lnSpc>
                <a:spcPts val="4828"/>
              </a:lnSpc>
              <a:spcAft>
                <a:spcPts val="0"/>
              </a:spcAft>
              <a:defRPr sz="34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not expertise.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800" y="2971800"/>
            <a:ext cx="11049000" cy="4081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14"/>
              </a:lnSpc>
              <a:spcAft>
                <a:spcPts val="0"/>
              </a:spcAft>
              <a:defRPr sz="170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Choose an interest, try a small action and leave yourself a next question.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800" y="4102100"/>
            <a:ext cx="381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400" y="4076700"/>
            <a:ext cx="10515600" cy="3630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59"/>
              </a:lnSpc>
              <a:spcAft>
                <a:spcPts val="0"/>
              </a:spcAft>
              <a:defRPr sz="14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01 Discover — choose a question about observation, tools or light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800" y="4584700"/>
            <a:ext cx="381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1400" y="4559300"/>
            <a:ext cx="10515600" cy="3630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59"/>
              </a:lnSpc>
              <a:spcAft>
                <a:spcPts val="0"/>
              </a:spcAft>
              <a:defRPr sz="14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02 Prepare — start on your own with a photo, note or sketch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8800" y="5067300"/>
            <a:ext cx="381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1400" y="5041900"/>
            <a:ext cx="10515600" cy="3630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59"/>
              </a:lnSpc>
              <a:spcAft>
                <a:spcPts val="0"/>
              </a:spcAft>
              <a:defRPr sz="14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03 Work together — join a small team in the planned first season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8800" y="5549900"/>
            <a:ext cx="381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1400" y="5524500"/>
            <a:ext cx="10515600" cy="3630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59"/>
              </a:lnSpc>
              <a:spcAft>
                <a:spcPts val="0"/>
              </a:spcAft>
              <a:defRPr sz="14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04 Continue — use what you record to begin the next experiment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317500"/>
            <a:ext cx="11125200" cy="3540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8"/>
              </a:lnSpc>
              <a:spcAft>
                <a:spcPts val="0"/>
              </a:spcAft>
              <a:defRPr sz="14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HACKER FARM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596900"/>
            <a:ext cx="11125200" cy="2188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23"/>
              </a:lnSpc>
              <a:spcAft>
                <a:spcPts val="0"/>
              </a:spcAft>
              <a:defRPr sz="6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S T U D I O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6324600"/>
            <a:ext cx="11125200" cy="10160"/>
          </a:xfrm>
          <a:prstGeom prst="rect">
            <a:avLst/>
          </a:prstGeom>
          <a:solidFill>
            <a:srgbClr val="CBC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426200"/>
            <a:ext cx="10287000" cy="2458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36"/>
              </a:lnSpc>
              <a:spcAft>
                <a:spcPts val="0"/>
              </a:spcAft>
              <a:defRPr sz="800" b="0">
                <a:solidFill>
                  <a:srgbClr val="61645B"/>
                </a:solidFill>
                <a:latin typeface="Noto Sans KR"/>
              </a:defRPr>
            </a:pPr>
            <a:r>
              <a:rPr>
                <a:ea typeface="Noto Sans KR"/>
              </a:rPr>
              <a:t>2026-10-10 · v08 / Introduction &amp; presentation · operating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9000" y="6426200"/>
            <a:ext cx="635000" cy="2639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78"/>
              </a:lnSpc>
              <a:spcAft>
                <a:spcPts val="0"/>
              </a:spcAft>
              <a:defRPr sz="9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8800" y="1079500"/>
            <a:ext cx="10795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FIRST SEASON /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1422400"/>
            <a:ext cx="11049000" cy="1327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828"/>
              </a:lnSpc>
              <a:spcAft>
                <a:spcPts val="0"/>
              </a:spcAft>
              <a:defRPr sz="34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Twelve weeks of</a:t>
            </a:r>
          </a:p>
          <a:p>
            <a:pPr>
              <a:lnSpc>
                <a:spcPts val="4828"/>
              </a:lnSpc>
              <a:spcAft>
                <a:spcPts val="0"/>
              </a:spcAft>
              <a:defRPr sz="34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small experiments.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800" y="2971800"/>
            <a:ext cx="11049000" cy="4081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14"/>
              </a:lnSpc>
              <a:spcAft>
                <a:spcPts val="0"/>
              </a:spcAft>
              <a:defRPr sz="170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Six three-hour sessions, every other week. Designed around three teams of four.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800" y="4102100"/>
            <a:ext cx="381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400" y="4076700"/>
            <a:ext cx="10515600" cy="3630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59"/>
              </a:lnSpc>
              <a:spcAft>
                <a:spcPts val="0"/>
              </a:spcAft>
              <a:defRPr sz="14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Sessions 1–2 · explore the setting and choose questions and roles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800" y="4584700"/>
            <a:ext cx="381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1400" y="4559300"/>
            <a:ext cx="10515600" cy="3630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59"/>
              </a:lnSpc>
              <a:spcAft>
                <a:spcPts val="0"/>
              </a:spcAft>
              <a:defRPr sz="14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Sessions 3–4 · build small prototypes, compare records and revise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8800" y="5067300"/>
            <a:ext cx="381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1400" y="5041900"/>
            <a:ext cx="10515600" cy="3630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59"/>
              </a:lnSpc>
              <a:spcAft>
                <a:spcPts val="0"/>
              </a:spcAft>
              <a:defRPr sz="14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Sessions 5–6 · test again and document the next steps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317500"/>
            <a:ext cx="11125200" cy="3540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8"/>
              </a:lnSpc>
              <a:spcAft>
                <a:spcPts val="0"/>
              </a:spcAft>
              <a:defRPr sz="14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HACKER FARM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596900"/>
            <a:ext cx="11125200" cy="2188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23"/>
              </a:lnSpc>
              <a:spcAft>
                <a:spcPts val="0"/>
              </a:spcAft>
              <a:defRPr sz="6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S T U D I O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6324600"/>
            <a:ext cx="11125200" cy="10160"/>
          </a:xfrm>
          <a:prstGeom prst="rect">
            <a:avLst/>
          </a:prstGeom>
          <a:solidFill>
            <a:srgbClr val="CBC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426200"/>
            <a:ext cx="10287000" cy="2458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36"/>
              </a:lnSpc>
              <a:spcAft>
                <a:spcPts val="0"/>
              </a:spcAft>
              <a:defRPr sz="800" b="0">
                <a:solidFill>
                  <a:srgbClr val="61645B"/>
                </a:solidFill>
                <a:latin typeface="Noto Sans KR"/>
              </a:defRPr>
            </a:pPr>
            <a:r>
              <a:rPr>
                <a:ea typeface="Noto Sans KR"/>
              </a:rPr>
              <a:t>2026-10-10 · v08 / Introduction &amp; presentation · operating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9000" y="6426200"/>
            <a:ext cx="635000" cy="2639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78"/>
              </a:lnSpc>
              <a:spcAft>
                <a:spcPts val="0"/>
              </a:spcAft>
              <a:defRPr sz="9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8800" y="1079500"/>
            <a:ext cx="10795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MEMBERSHIP /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1422400"/>
            <a:ext cx="11049000" cy="1327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828"/>
              </a:lnSpc>
              <a:spcAft>
                <a:spcPts val="0"/>
              </a:spcAft>
              <a:defRPr sz="34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A clear group size</a:t>
            </a:r>
          </a:p>
          <a:p>
            <a:pPr>
              <a:lnSpc>
                <a:spcPts val="4828"/>
              </a:lnSpc>
              <a:spcAft>
                <a:spcPts val="0"/>
              </a:spcAft>
              <a:defRPr sz="34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and membership fee.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800" y="2971800"/>
            <a:ext cx="11049000" cy="4081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14"/>
              </a:lnSpc>
              <a:spcAft>
                <a:spcPts val="0"/>
              </a:spcAft>
              <a:defRPr sz="170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First-season capacity: 12 people · KRW 360,000 per person for 12 weeks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800" y="4102100"/>
            <a:ext cx="381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400" y="4076700"/>
            <a:ext cx="10515600" cy="3630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59"/>
              </a:lnSpc>
              <a:spcAft>
                <a:spcPts val="0"/>
              </a:spcAft>
              <a:defRPr sz="14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Planned inclusions: six sessions, basic shared tools and consumables, documentation guidance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800" y="4584700"/>
            <a:ext cx="381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1400" y="4559300"/>
            <a:ext cx="10515600" cy="3630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59"/>
              </a:lnSpc>
              <a:spcAft>
                <a:spcPts val="0"/>
              </a:spcAft>
              <a:defRPr sz="14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Outside the plan: personal equipment, specialist materials, meals and transport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8800" y="5067300"/>
            <a:ext cx="381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1400" y="5041900"/>
            <a:ext cx="10515600" cy="3630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59"/>
              </a:lnSpc>
              <a:spcAft>
                <a:spcPts val="0"/>
              </a:spcAft>
              <a:defRPr sz="14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Membership covers scheduled sessions, not unrestricted access to the premises.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8800" y="5549900"/>
            <a:ext cx="381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1400" y="5524500"/>
            <a:ext cx="10515600" cy="3630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59"/>
              </a:lnSpc>
              <a:spcAft>
                <a:spcPts val="0"/>
              </a:spcAft>
              <a:defRPr sz="14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Start dates, facilitators, detailed support and refund terms will be published before enrolment.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317500"/>
            <a:ext cx="11125200" cy="3540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8"/>
              </a:lnSpc>
              <a:spcAft>
                <a:spcPts val="0"/>
              </a:spcAft>
              <a:defRPr sz="14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HACKER FARM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596900"/>
            <a:ext cx="11125200" cy="2188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23"/>
              </a:lnSpc>
              <a:spcAft>
                <a:spcPts val="0"/>
              </a:spcAft>
              <a:defRPr sz="6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S T U D I O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6324600"/>
            <a:ext cx="11125200" cy="10160"/>
          </a:xfrm>
          <a:prstGeom prst="rect">
            <a:avLst/>
          </a:prstGeom>
          <a:solidFill>
            <a:srgbClr val="CBC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426200"/>
            <a:ext cx="10287000" cy="2458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36"/>
              </a:lnSpc>
              <a:spcAft>
                <a:spcPts val="0"/>
              </a:spcAft>
              <a:defRPr sz="800" b="0">
                <a:solidFill>
                  <a:srgbClr val="61645B"/>
                </a:solidFill>
                <a:latin typeface="Noto Sans KR"/>
              </a:defRPr>
            </a:pPr>
            <a:r>
              <a:rPr>
                <a:ea typeface="Noto Sans KR"/>
              </a:rPr>
              <a:t>2026-10-10 · v08 / Introduction &amp; presentation · operating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9000" y="6426200"/>
            <a:ext cx="635000" cy="2639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78"/>
              </a:lnSpc>
              <a:spcAft>
                <a:spcPts val="0"/>
              </a:spcAft>
              <a:defRPr sz="9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8800" y="1079500"/>
            <a:ext cx="10795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OUR PRINCIPLES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1422400"/>
            <a:ext cx="11049000" cy="1327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828"/>
              </a:lnSpc>
              <a:spcAft>
                <a:spcPts val="0"/>
              </a:spcAft>
              <a:defRPr sz="34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A shared farm.</a:t>
            </a:r>
          </a:p>
          <a:p>
            <a:pPr>
              <a:lnSpc>
                <a:spcPts val="4828"/>
              </a:lnSpc>
              <a:spcAft>
                <a:spcPts val="0"/>
              </a:spcAft>
              <a:defRPr sz="34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Shared commitments.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800" y="2971800"/>
            <a:ext cx="11049000" cy="4081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14"/>
              </a:lnSpc>
              <a:spcAft>
                <a:spcPts val="0"/>
              </a:spcAft>
              <a:defRPr sz="170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Membership fees support preparation and the running of shared activities.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800" y="4102100"/>
            <a:ext cx="381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400" y="4076700"/>
            <a:ext cx="10515600" cy="3630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59"/>
              </a:lnSpc>
              <a:spcAft>
                <a:spcPts val="0"/>
              </a:spcAft>
              <a:defRPr sz="14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Our operating model does not rely on property rental revenue.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800" y="4584700"/>
            <a:ext cx="381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1400" y="4559300"/>
            <a:ext cx="10515600" cy="3630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59"/>
              </a:lnSpc>
              <a:spcAft>
                <a:spcPts val="0"/>
              </a:spcAft>
              <a:defRPr sz="14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Different contributions through technology, art and observation are valued.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8800" y="5067300"/>
            <a:ext cx="381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1400" y="5041900"/>
            <a:ext cx="10515600" cy="3630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59"/>
              </a:lnSpc>
              <a:spcAft>
                <a:spcPts val="0"/>
              </a:spcAft>
              <a:defRPr sz="14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You choose whether to share your work, photos and records.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8800" y="5549900"/>
            <a:ext cx="381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1400" y="5524500"/>
            <a:ext cx="10515600" cy="3630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59"/>
              </a:lnSpc>
              <a:spcAft>
                <a:spcPts val="0"/>
              </a:spcAft>
              <a:defRPr sz="14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We distinguish sources from adaptations, and plans from actual results.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317500"/>
            <a:ext cx="11125200" cy="3540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8"/>
              </a:lnSpc>
              <a:spcAft>
                <a:spcPts val="0"/>
              </a:spcAft>
              <a:defRPr sz="14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HACKER FARM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596900"/>
            <a:ext cx="11125200" cy="2188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23"/>
              </a:lnSpc>
              <a:spcAft>
                <a:spcPts val="0"/>
              </a:spcAft>
              <a:defRPr sz="6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S T U D I O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6324600"/>
            <a:ext cx="11125200" cy="10160"/>
          </a:xfrm>
          <a:prstGeom prst="rect">
            <a:avLst/>
          </a:prstGeom>
          <a:solidFill>
            <a:srgbClr val="CBC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426200"/>
            <a:ext cx="10287000" cy="2458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36"/>
              </a:lnSpc>
              <a:spcAft>
                <a:spcPts val="0"/>
              </a:spcAft>
              <a:defRPr sz="800" b="0">
                <a:solidFill>
                  <a:srgbClr val="61645B"/>
                </a:solidFill>
                <a:latin typeface="Noto Sans KR"/>
              </a:defRPr>
            </a:pPr>
            <a:r>
              <a:rPr>
                <a:ea typeface="Noto Sans KR"/>
              </a:rPr>
              <a:t>2026-10-10 · v08 / Introduction &amp; presentation · operating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9000" y="6426200"/>
            <a:ext cx="635000" cy="2639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78"/>
              </a:lnSpc>
              <a:spcAft>
                <a:spcPts val="0"/>
              </a:spcAft>
              <a:defRPr sz="9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8800" y="1079500"/>
            <a:ext cx="10795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YOUR NEXT STEP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1422400"/>
            <a:ext cx="11049000" cy="1327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828"/>
              </a:lnSpc>
              <a:spcAft>
                <a:spcPts val="0"/>
              </a:spcAft>
              <a:defRPr sz="34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Bring your</a:t>
            </a:r>
          </a:p>
          <a:p>
            <a:pPr>
              <a:lnSpc>
                <a:spcPts val="4828"/>
              </a:lnSpc>
              <a:spcAft>
                <a:spcPts val="0"/>
              </a:spcAft>
              <a:defRPr sz="34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first question.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800" y="2971800"/>
            <a:ext cx="11049000" cy="4081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14"/>
              </a:lnSpc>
              <a:spcAft>
                <a:spcPts val="0"/>
              </a:spcAft>
              <a:defRPr sz="170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Enrolment is being prepared. Read the material and choose a personal starting point.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800" y="4102100"/>
            <a:ext cx="381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400" y="4076700"/>
            <a:ext cx="10515600" cy="3630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59"/>
              </a:lnSpc>
              <a:spcAft>
                <a:spcPts val="0"/>
              </a:spcAft>
              <a:defRPr sz="14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Explore the three projects and the preparation suggested for each role.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800" y="4584700"/>
            <a:ext cx="381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1400" y="4559300"/>
            <a:ext cx="10515600" cy="3630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59"/>
              </a:lnSpc>
              <a:spcAft>
                <a:spcPts val="0"/>
              </a:spcAft>
              <a:defRPr sz="14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Write your question and save a personal note.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8800" y="5067300"/>
            <a:ext cx="381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1400" y="5041900"/>
            <a:ext cx="10515600" cy="3630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59"/>
              </a:lnSpc>
              <a:spcAft>
                <a:spcPts val="0"/>
              </a:spcAft>
              <a:defRPr sz="14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Twelve is the planned capacity. No members have been recruited yet.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8800" y="5549900"/>
            <a:ext cx="381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1400" y="5524500"/>
            <a:ext cx="10515600" cy="3630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59"/>
              </a:lnSpc>
              <a:spcAft>
                <a:spcPts val="0"/>
              </a:spcAft>
              <a:defRPr sz="14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Reading this material or saving a note does not submit an application or booking.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317500"/>
            <a:ext cx="11125200" cy="3540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8"/>
              </a:lnSpc>
              <a:spcAft>
                <a:spcPts val="0"/>
              </a:spcAft>
              <a:defRPr sz="14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HACKER FARM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596900"/>
            <a:ext cx="11125200" cy="2188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23"/>
              </a:lnSpc>
              <a:spcAft>
                <a:spcPts val="0"/>
              </a:spcAft>
              <a:defRPr sz="6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S T U D I O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6324600"/>
            <a:ext cx="11125200" cy="10160"/>
          </a:xfrm>
          <a:prstGeom prst="rect">
            <a:avLst/>
          </a:prstGeom>
          <a:solidFill>
            <a:srgbClr val="CBC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426200"/>
            <a:ext cx="10287000" cy="2458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36"/>
              </a:lnSpc>
              <a:spcAft>
                <a:spcPts val="0"/>
              </a:spcAft>
              <a:defRPr sz="800" b="0">
                <a:solidFill>
                  <a:srgbClr val="61645B"/>
                </a:solidFill>
                <a:latin typeface="Noto Sans KR"/>
              </a:defRPr>
            </a:pPr>
            <a:r>
              <a:rPr>
                <a:ea typeface="Noto Sans KR"/>
              </a:rPr>
              <a:t>2026-10-10 · v08 / Introduction &amp; presentation · operating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9000" y="6426200"/>
            <a:ext cx="635000" cy="2639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78"/>
              </a:lnSpc>
              <a:spcAft>
                <a:spcPts val="0"/>
              </a:spcAft>
              <a:defRPr sz="9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8800" y="1079500"/>
            <a:ext cx="10795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REFERENCES / EDITION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1422400"/>
            <a:ext cx="11049000" cy="1327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828"/>
              </a:lnSpc>
              <a:spcAft>
                <a:spcPts val="0"/>
              </a:spcAft>
              <a:defRPr sz="34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Sources and</a:t>
            </a:r>
          </a:p>
          <a:p>
            <a:pPr>
              <a:lnSpc>
                <a:spcPts val="4828"/>
              </a:lnSpc>
              <a:spcAft>
                <a:spcPts val="0"/>
              </a:spcAft>
              <a:defRPr sz="3400" b="1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what comes next.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800" y="2971800"/>
            <a:ext cx="11049000" cy="4081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14"/>
              </a:lnSpc>
              <a:spcAft>
                <a:spcPts val="0"/>
              </a:spcAft>
              <a:defRPr sz="170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Build on the questions in earlier work, then test the adaptations in our own setting.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800" y="4102100"/>
            <a:ext cx="381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400" y="4076700"/>
            <a:ext cx="10515600" cy="3630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59"/>
              </a:lnSpc>
              <a:spcAft>
                <a:spcPts val="0"/>
              </a:spcAft>
              <a:defRPr sz="14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FarmLab · TechRice · Python workshops · QR Inventory · Solar Paper Lantern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800" y="4584700"/>
            <a:ext cx="381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1400" y="4559300"/>
            <a:ext cx="10515600" cy="3630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59"/>
              </a:lnSpc>
              <a:spcAft>
                <a:spcPts val="0"/>
              </a:spcAft>
              <a:defRPr sz="14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These are external reference projects, not Hacker Farm Studio’s completed work.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8800" y="5067300"/>
            <a:ext cx="381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1400" y="5041900"/>
            <a:ext cx="10515600" cy="3630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59"/>
              </a:lnSpc>
              <a:spcAft>
                <a:spcPts val="0"/>
              </a:spcAft>
              <a:defRPr sz="14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Next checks: runtimes, components, licensing, field safety and facilitators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8800" y="5549900"/>
            <a:ext cx="3810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0"/>
              </a:lnSpc>
              <a:spcAft>
                <a:spcPts val="0"/>
              </a:spcAft>
              <a:defRPr sz="1000" b="1">
                <a:solidFill>
                  <a:srgbClr val="B83F24"/>
                </a:solidFill>
                <a:latin typeface="Noto Sans KR"/>
              </a:defRPr>
            </a:pPr>
            <a:r>
              <a:rPr>
                <a:ea typeface="Noto Sans KR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1400" y="5524500"/>
            <a:ext cx="10515600" cy="3630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59"/>
              </a:lnSpc>
              <a:spcAft>
                <a:spcPts val="0"/>
              </a:spcAft>
              <a:defRPr sz="1450" b="0">
                <a:solidFill>
                  <a:srgbClr val="20221E"/>
                </a:solidFill>
                <a:latin typeface="Noto Sans KR"/>
              </a:defRPr>
            </a:pPr>
            <a:r>
              <a:rPr>
                <a:ea typeface="Noto Sans KR"/>
              </a:rPr>
              <a:t>2026-10-10 · v08 / Introduction, presentation and first-season operating plan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Hacker Farm Studio — Introduction and presentation · 2026-10-10 v08</dc:title>
  <dc:subject>First-season operating plan, not an enrolment confirmation</dc:subject>
  <dc:creator>Hacker Farm Studio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